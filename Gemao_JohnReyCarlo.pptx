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4AF37"/>
                </a:solidFill>
                <a:latin typeface="Calibri"/>
              </a:rPr>
              <a:t>TOPIC XIII — CLOUD SERVICE MODEL DESIGN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1554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Essay and Drawing 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 i="0">
                <a:solidFill>
                  <a:srgbClr val="D8E0D8"/>
                </a:solidFill>
                <a:latin typeface="Calibri"/>
              </a:rPr>
              <a:t>Based on the Approved Thesis/Capstone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6984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AF37"/>
                </a:solidFill>
                <a:latin typeface="Calibri"/>
              </a:rPr>
              <a:t>Total: 100 points  •  Suggested time: 90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6949440" cy="1965960"/>
          </a:xfrm>
          <a:prstGeom prst="roundRect">
            <a:avLst/>
          </a:prstGeom>
          <a:solidFill>
            <a:srgbClr val="2A4738"/>
          </a:solidFill>
          <a:ln w="1524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/>
            <a:r>
              <a:rPr sz="1100" b="1">
                <a:solidFill>
                  <a:srgbClr val="D4AF37"/>
                </a:solidFill>
              </a:rPr>
              <a:t>CANDIDATE DETAILS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Name:  John Rey Carlo A. Gemao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Section / Group:  ______________________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Approved Thesis Title: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   Property Management, Smart Lock (RFID + Mobile Key / ESP32)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   &amp; Tracking System for Hacienda de LuisAna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   Luisiana, Laguna, Philippines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Date:  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611880"/>
            <a:ext cx="3246120" cy="1965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Scope limit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D8E0D8"/>
                </a:solidFill>
                <a:latin typeface="Calibri"/>
              </a:rPr>
              <a:t>Limited to IaaS, PaaS, SaaS. Provider names are optional;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D8E0D8"/>
                </a:solidFill>
                <a:latin typeface="Calibri"/>
              </a:rPr>
              <a:t>naming a provider alone does not identify its service model.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D8E0D8"/>
                </a:solidFill>
                <a:latin typeface="Calibri"/>
              </a:rPr>
              <a:t>SaaS = an existing provider-managed application.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D8E0D8"/>
                </a:solidFill>
                <a:latin typeface="Calibri"/>
              </a:rPr>
              <a:t>Hosting your own app online ≠ SaaS.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9C9BF"/>
                </a:solidFill>
                <a:latin typeface="Calibri"/>
              </a:rPr>
              <a:t>Hacienda de LuisAna — private countryside stay in Luisiana, Laguna  •  Guest website (React + Vite + Firebase)  •  Admin mobile app (Flutter)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9FB09F"/>
                </a:solidFill>
                <a:latin typeface="Calibri"/>
              </a:rPr>
              <a:t>Presented as an editable PowerPoint file, ready to upload to Google Slides.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1 — COMPARE THE THREE CLOUD SERVICE MODELS (20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IaaS, PaaS, SaaS applied to Hacienda de LuisAna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05840"/>
          <a:ext cx="11384280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3017520"/>
                <a:gridCol w="2468880"/>
                <a:gridCol w="2468880"/>
                <a:gridCol w="2377440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Possible application to Hacienda de LuisAna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our team manages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the cloud provider manages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Main advantage and limitation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1E3A2F"/>
                          </a:solidFill>
                          <a:latin typeface="Calibri"/>
                        </a:rPr>
                        <a:t>IaaS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Rent virtual machines (asia-southeast1) and self-install the Guest website, Admin app backend, Firestore-emulated database, Realtime Database and ESP32 lock gateway; we run and patch the OS, runtime and web server ourselves.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OS patching &amp; hardening, runtime (Node/Flutter server), web server (Nginx), application code deployment, database engine &amp; indexes, backups, monitoring, security groups, Guest/Admin identity on the VMs.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Physical servers, storage, networking, virtualisation layer, hypervisor, data-centre power/cooling.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Advantage: full control to match the two-role, two-app architecture and the smart-lock gateway. Limitation: we operate everything above the hardware — high ops burden for a two-person team.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1E3A2F"/>
                          </a:solidFill>
                          <a:latin typeface="Calibri"/>
                        </a:rPr>
                        <a:t>PaaS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Deploy the website on Firebase Hosting / Vercel and Admin app logic as Cloud Run or App Engine services; use managed Firestore, Firebase Auth and Cloud Functions (asia-southeast1) for booking submission and availability.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Application code, data configuration (site_config/rates), user permissions &amp; roles, Firestore rules, Security PIN gate, OCR settings, deployment &amp; CI/CD.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Servers, OS, runtime, scaling, patching, load balancing, underlying infrastructure and data-centre facilities.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Advantage: matches the existing Firebase/Vercel stack and small team; no server ops. Limitation: less control over the ESP32 lock gateway and exact database tuning.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1E3A2F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Subscribe to an existing property-management / booking SaaS and use its calendar, payments and guest messaging as-is, keeping the smart-lock and custom refund policy only in spreadsheets or manual processes.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Subscription settings, user accounts &amp; permissions within the SaaS, data entry, configuration of the offered features only.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Entire application, database, servers, OS, runtime, updates, security and availability of the SaaS platform.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21252B"/>
                          </a:solidFill>
                          <a:latin typeface="Calibri"/>
                        </a:rPr>
                        <a:t>Advantage: near-zero build and ops work. Limitation: the approved system (RFID/Mobile Key via ESP32, custom 50% downpayment + deposit, two-role split, Privacy Act compliance) cannot be met by a generic SaaS — so a pure SaaS choice fails the requirements.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38928"/>
            <a:ext cx="11384280" cy="1298448"/>
          </a:xfrm>
          <a:prstGeom prst="roundRect">
            <a:avLst/>
          </a:prstGeom>
          <a:solidFill>
            <a:srgbClr val="FBF3DC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5A00"/>
                </a:solidFill>
              </a:rPr>
              <a:t>Assumptions (Question 1)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>
                <a:solidFill>
                  <a:srgbClr val="21252B"/>
                </a:solidFill>
              </a:rPr>
              <a:t>•  One project region: asia-southeast1 (Singapore), close to Luisiana, Laguna.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>
                <a:solidFill>
                  <a:srgbClr val="21252B"/>
                </a:solidFill>
              </a:rPr>
              <a:t>•  "Provider" means the managed cloud behind each model; no single provider is named as the answer.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>
                <a:solidFill>
                  <a:srgbClr val="21252B"/>
                </a:solidFill>
              </a:rPr>
              <a:t>•  The system stays the approved scope: two roles (Guest website, Admin app), booking lifecycle, payment-proof upload, smart-lock access log.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>
                <a:solidFill>
                  <a:srgbClr val="21252B"/>
                </a:solidFill>
              </a:rPr>
              <a:t>•  Direct ESP32 lock control is not exposed by PaaS/SaaS platforms, so it must stay under our team or a dedicated integration.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1 (CONT.) — USER-ACCESS SKETCHES AND REQUIREMENT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Three small labeled sketches: how users access the system under each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278892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34440"/>
            <a:ext cx="3438144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3A2F"/>
                </a:solidFill>
                <a:latin typeface="Calibri"/>
              </a:rPr>
              <a:t>IaaS — we rent VMs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618488"/>
            <a:ext cx="105156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55064"/>
            <a:ext cx="10515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Guests +
Admin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847088"/>
            <a:ext cx="914400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92808" y="1645920"/>
            <a:ext cx="91440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HTTPS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240280"/>
            <a:ext cx="1417320" cy="1417320"/>
          </a:xfrm>
          <a:prstGeom prst="roundRect">
            <a:avLst/>
          </a:prstGeom>
          <a:solidFill>
            <a:srgbClr val="E3ECEE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295144"/>
            <a:ext cx="132588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Provider: physical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59736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server + hypervisor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990088"/>
            <a:ext cx="1417320" cy="566928"/>
          </a:xfrm>
          <a:prstGeom prst="roundRect">
            <a:avLst/>
          </a:prstGeom>
          <a:solidFill>
            <a:srgbClr val="ECF0EA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302666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Team: OS,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172968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runtime, app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38728"/>
            <a:ext cx="347472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Team builds &amp; runs the whole stack.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143000"/>
            <a:ext cx="3657600" cy="278892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1234440"/>
            <a:ext cx="3438144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3A2F"/>
                </a:solidFill>
                <a:latin typeface="Calibri"/>
              </a:rPr>
              <a:t>PaaS — managed platform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1618488"/>
            <a:ext cx="105156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655064"/>
            <a:ext cx="10515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Guests +
Admin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1847088"/>
            <a:ext cx="914400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24728" y="1645920"/>
            <a:ext cx="91440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HTTPS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240280"/>
            <a:ext cx="1417320" cy="1417320"/>
          </a:xfrm>
          <a:prstGeom prst="roundRect">
            <a:avLst/>
          </a:prstGeom>
          <a:solidFill>
            <a:srgbClr val="E3ECEE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295144"/>
            <a:ext cx="132588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Provider: servers,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459736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OS, 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624328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+ scaling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990088"/>
            <a:ext cx="1417320" cy="566928"/>
          </a:xfrm>
          <a:prstGeom prst="roundRect">
            <a:avLst/>
          </a:prstGeom>
          <a:solidFill>
            <a:srgbClr val="ECF0EA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02666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Team: app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172968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+ data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538728"/>
            <a:ext cx="347472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Team ships code; provider runs the platform.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1143000"/>
            <a:ext cx="3657600" cy="278892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1234440"/>
            <a:ext cx="3438144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3A2F"/>
                </a:solidFill>
                <a:latin typeface="Calibri"/>
              </a:rPr>
              <a:t>SaaS — subscribed app</a:t>
            </a:r>
          </a:p>
        </p:txBody>
      </p:sp>
      <p:sp>
        <p:nvSpPr>
          <p:cNvPr id="35" name="Oval 34"/>
          <p:cNvSpPr/>
          <p:nvPr/>
        </p:nvSpPr>
        <p:spPr>
          <a:xfrm>
            <a:off x="8503920" y="1618488"/>
            <a:ext cx="105156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1655064"/>
            <a:ext cx="10515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Guests +
Admin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92640" y="1847088"/>
            <a:ext cx="914400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756648" y="1645920"/>
            <a:ext cx="91440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HTTPS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2240280"/>
            <a:ext cx="1417320" cy="1417320"/>
          </a:xfrm>
          <a:prstGeom prst="roundRect">
            <a:avLst/>
          </a:prstGeom>
          <a:solidFill>
            <a:srgbClr val="E3ECEE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2295144"/>
            <a:ext cx="132588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Provider: entire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2459736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application 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2624328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infrastructure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0" y="2990088"/>
            <a:ext cx="1417320" cy="566928"/>
          </a:xfrm>
          <a:prstGeom prst="roundRect">
            <a:avLst/>
          </a:prstGeom>
          <a:solidFill>
            <a:srgbClr val="ECF0EA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302666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Team: settings &amp;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3172968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21252B"/>
                </a:solidFill>
                <a:latin typeface="Calibri"/>
              </a:rPr>
              <a:t>data entry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538728"/>
            <a:ext cx="347472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B34A3A"/>
                </a:solidFill>
                <a:latin typeface="Calibri"/>
              </a:rPr>
              <a:t>Generic SaaS cannot meet RFID/lock &amp; custom payment scope.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069080"/>
            <a:ext cx="11384280" cy="2377440"/>
          </a:xfrm>
          <a:prstGeom prst="roundRect">
            <a:avLst/>
          </a:prstGeom>
          <a:solidFill>
            <a:srgbClr val="EEF3EE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4169663"/>
            <a:ext cx="110642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E3A2F"/>
                </a:solidFill>
                <a:latin typeface="Calibri"/>
              </a:rPr>
              <a:t>Essay focus — which requirements are easiest / hardest under each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4498848"/>
            <a:ext cx="11064240" cy="1874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Easiest under IaaS:  </a:t>
            </a:r>
            <a:r>
              <a:rPr sz="1050">
                <a:solidFill>
                  <a:srgbClr val="21252B"/>
                </a:solidFill>
              </a:rPr>
              <a:t>full control over the ESP32 smart-lock gateway and the two-role split (Guest website vs Admin app); we choose the OS, runtime and database engine.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Hardest under IaaS:  </a:t>
            </a:r>
            <a:r>
              <a:rPr sz="1050">
                <a:solidFill>
                  <a:srgbClr val="21252B"/>
                </a:solidFill>
              </a:rPr>
              <a:t>operating everything above the hardware — patching, backups, monitoring and availability fall on our small team, which has limited ops capacity.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Easiest under PaaS:  </a:t>
            </a:r>
            <a:r>
              <a:rPr sz="1050">
                <a:solidFill>
                  <a:srgbClr val="21252B"/>
                </a:solidFill>
              </a:rPr>
              <a:t>matches the existing Firebase Hosting / Vercel website and Cloud Functions stack; no server ops, built-in scaling for the booking calendar.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Hardest under PaaS:  </a:t>
            </a:r>
            <a:r>
              <a:rPr sz="1050">
                <a:solidFill>
                  <a:srgbClr val="21252B"/>
                </a:solidFill>
              </a:rPr>
              <a:t>limited control over the ESP32 lock connection and exact Firestore tuning; the lock stays a separate integration we must manage.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Hardest under SaaS (a blocker):  </a:t>
            </a:r>
            <a:r>
              <a:rPr sz="1050">
                <a:solidFill>
                  <a:srgbClr val="21252B"/>
                </a:solidFill>
              </a:rPr>
              <a:t>an existing property-management SaaS cannot deliver the approved custom scope — RFID/Mobile Key via ESP32, 50% downpayment + refundable deposit, two-role split, and Data Privacy Act handling of payment proofs — so pure SaaS fails the requirements.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2 — SELECT AND JUSTIFY YOUR CLOUD SERVICE MODEL (20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Selected primary model: PaaS (Firebase-as-a-platform on the website side)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3291840" cy="457200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PRIMARY MODEL: PAAS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11338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1252B"/>
                </a:solidFill>
                <a:latin typeface="Calibri"/>
              </a:rPr>
              <a:t>Platform as a Service — the Guest website runs on Firebase Hosting / Vercel and the Admin app logic runs as managed platform services (Cloud Run / App Engine) backed by managed Firestore, Firebase Auth and Cloud Functions, region asia-southeast1.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5760720" cy="4343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Approved functions &amp; customization:  </a:t>
            </a:r>
            <a:r>
              <a:rPr sz="1050">
                <a:solidFill>
                  <a:srgbClr val="21252B"/>
                </a:solidFill>
              </a:rPr>
              <a:t>the system needs a custom two-role split (Guest website, Admin mobile app), a booking lifecycle with date holds, payment-proof upload, published rates, and an ESP32 smart-lock gateway. PaaS lets us write and deploy exactly that application code while the platform runs the servers.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Expected users &amp; workload:  </a:t>
            </a:r>
            <a:r>
              <a:rPr sz="1050">
                <a:solidFill>
                  <a:srgbClr val="21252B"/>
                </a:solidFill>
              </a:rPr>
              <a:t>low-to-moderate, sporadic traffic (a countryside estate, not a hotel chain). PaaS scales to zero and scales up automatically — we pay for actual use, not idle VMs.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Team technical skills:  </a:t>
            </a:r>
            <a:r>
              <a:rPr sz="1050">
                <a:solidFill>
                  <a:srgbClr val="21252B"/>
                </a:solidFill>
              </a:rPr>
              <a:t>the team already builds the React/Vite website and Flutter app on Firebase; no one is hired to operate Linux VMs, so removing server ops is a fit.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Budget &amp; maintenance capacity:  </a:t>
            </a:r>
            <a:r>
              <a:rPr sz="1050">
                <a:solidFill>
                  <a:srgbClr val="21252B"/>
                </a:solidFill>
              </a:rPr>
              <a:t>small operation — free/low-cost Firebase tiers plus pay-as-you-go functions suit a limited budget and there is no dedicated sysadmin to patch OSes.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50" b="1">
                <a:solidFill>
                  <a:srgbClr val="D4AF37"/>
                </a:solidFill>
              </a:rPr>
              <a:t>▪  </a:t>
            </a:r>
            <a:r>
              <a:rPr sz="1050" b="1">
                <a:solidFill>
                  <a:srgbClr val="1E3A2F"/>
                </a:solidFill>
              </a:rPr>
              <a:t>Security &amp; access:  </a:t>
            </a:r>
            <a:r>
              <a:rPr sz="1050">
                <a:solidFill>
                  <a:srgbClr val="21252B"/>
                </a:solidFill>
              </a:rPr>
              <a:t>Firebase Auth + Firestore Security Rules enforce the guest/admin split and payment invariants at the database layer; the Admin app adds a Security PIN gate. The provider handles physical security and server patching.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011680"/>
            <a:ext cx="5440680" cy="434340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21408"/>
            <a:ext cx="51206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E3A2F"/>
                </a:solidFill>
                <a:latin typeface="Calibri"/>
              </a:rPr>
              <a:t>Comparison with the two alternatives + trade-off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32304"/>
            <a:ext cx="5138928" cy="3794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</a:rPr>
              <a:t>▪  </a:t>
            </a:r>
            <a:r>
              <a:rPr sz="1000" b="1">
                <a:solidFill>
                  <a:srgbClr val="1E3A2F"/>
                </a:solidFill>
              </a:rPr>
              <a:t>vs IaaS:  </a:t>
            </a:r>
            <a:r>
              <a:rPr sz="1000">
                <a:solidFill>
                  <a:srgbClr val="21252B"/>
                </a:solidFill>
              </a:rPr>
              <a:t>IaaS would give full control over the ESP32 lock gateway and the database engine, but we would have to patch OSes, run backups and monitor servers ourselves — too much ops for our team and budget.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</a:rPr>
              <a:t>▪  </a:t>
            </a:r>
            <a:r>
              <a:rPr sz="1000" b="1">
                <a:solidFill>
                  <a:srgbClr val="1E3A2F"/>
                </a:solidFill>
              </a:rPr>
              <a:t>vs SaaS:  </a:t>
            </a:r>
            <a:r>
              <a:rPr sz="1000">
                <a:solidFill>
                  <a:srgbClr val="21252B"/>
                </a:solidFill>
              </a:rPr>
              <a:t>a generic property-management SaaS cannot meet the approved scope (RFID/Mobile Key via ESP32, custom 50% downpayment + deposit, two-role split). Pure SaaS fails the requirements.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</a:rPr>
              <a:t>▪  </a:t>
            </a:r>
            <a:r>
              <a:rPr sz="1000" b="1">
                <a:solidFill>
                  <a:srgbClr val="1E3A2F"/>
                </a:solidFill>
              </a:rPr>
              <a:t>Trade-off:  </a:t>
            </a:r>
            <a:r>
              <a:rPr sz="1000">
                <a:solidFill>
                  <a:srgbClr val="21252B"/>
                </a:solidFill>
              </a:rPr>
              <a:t>PaaS gives up direct control over the ESP32 lock connection and fine-grained database tuning — the lock stays a separate integration we manage, and we accept the platform's managed-service limits.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</a:rPr>
              <a:t>▪  </a:t>
            </a:r>
            <a:r>
              <a:rPr sz="1000" b="1">
                <a:solidFill>
                  <a:srgbClr val="1E3A2F"/>
                </a:solidFill>
              </a:rPr>
              <a:t>Addressing it:  </a:t>
            </a:r>
            <a:r>
              <a:rPr sz="1000">
                <a:solidFill>
                  <a:srgbClr val="21252B"/>
                </a:solidFill>
              </a:rPr>
              <a:t>keep the ESP32 lock gateway as a small integration we operate (it only writes access logs to Firestore), use Cloud Functions for the server-side transaction boundary, and verify provider SLAs/backups before launch.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2 (CONT.) — RESPONSIBILITY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PaaS: “Our Team Manages” vs “Cloud Provider Manages”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15568"/>
            <a:ext cx="5349240" cy="4160520"/>
          </a:xfrm>
          <a:prstGeom prst="roundRect">
            <a:avLst/>
          </a:prstGeom>
          <a:solidFill>
            <a:srgbClr val="ECF0EA"/>
          </a:solidFill>
          <a:ln w="1905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43584"/>
            <a:ext cx="2651760" cy="36576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OUR TEAM MANAGES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719072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00784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Application code (website + Admin app)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052828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34540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Firestore data configuration (site_config/rates)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386584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68296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User permissions &amp; roles (guest / admin)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720340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702052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Firestore Security Rules (authorization)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054096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035808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Security PIN gate (ADR-0015)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387852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369564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OCR settings &amp; payment-proof review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721608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703320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Deployment &amp; CI/CD (Vercel / Firebase Hosting)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055364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037076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ESP32 lock-gateway integration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4389120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370832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Backups configuration &amp; testing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722876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4704588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Monitoring &amp; incident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115568"/>
            <a:ext cx="5440680" cy="4160520"/>
          </a:xfrm>
          <a:prstGeom prst="roundRect">
            <a:avLst/>
          </a:prstGeom>
          <a:solidFill>
            <a:srgbClr val="E3ECEE"/>
          </a:solidFill>
          <a:ln w="1905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29400" y="1243584"/>
            <a:ext cx="3017520" cy="36576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CLOUD PROVIDER MANAGES</a:t>
            </a:r>
          </a:p>
        </p:txBody>
      </p:sp>
      <p:sp>
        <p:nvSpPr>
          <p:cNvPr id="30" name="Oval 29"/>
          <p:cNvSpPr/>
          <p:nvPr/>
        </p:nvSpPr>
        <p:spPr>
          <a:xfrm>
            <a:off x="6601968" y="1719072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1700784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Physical servers &amp; data-centre facilities</a:t>
            </a:r>
          </a:p>
        </p:txBody>
      </p:sp>
      <p:sp>
        <p:nvSpPr>
          <p:cNvPr id="32" name="Oval 31"/>
          <p:cNvSpPr/>
          <p:nvPr/>
        </p:nvSpPr>
        <p:spPr>
          <a:xfrm>
            <a:off x="6601968" y="2066544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2048256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Operating systems &amp; virtualisation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601968" y="2414016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2395728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Runtime environment &amp; scaling</a:t>
            </a:r>
          </a:p>
        </p:txBody>
      </p:sp>
      <p:sp>
        <p:nvSpPr>
          <p:cNvPr id="36" name="Oval 35"/>
          <p:cNvSpPr/>
          <p:nvPr/>
        </p:nvSpPr>
        <p:spPr>
          <a:xfrm>
            <a:off x="6601968" y="2761488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2743200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Networking, load balancing &amp; HTTPS termination</a:t>
            </a:r>
          </a:p>
        </p:txBody>
      </p:sp>
      <p:sp>
        <p:nvSpPr>
          <p:cNvPr id="38" name="Oval 37"/>
          <p:cNvSpPr/>
          <p:nvPr/>
        </p:nvSpPr>
        <p:spPr>
          <a:xfrm>
            <a:off x="6601968" y="3108960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3090672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Database engine, storage &amp; replication</a:t>
            </a:r>
          </a:p>
        </p:txBody>
      </p:sp>
      <p:sp>
        <p:nvSpPr>
          <p:cNvPr id="40" name="Oval 39"/>
          <p:cNvSpPr/>
          <p:nvPr/>
        </p:nvSpPr>
        <p:spPr>
          <a:xfrm>
            <a:off x="6601968" y="3456432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3438144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Firebase Auth identity service</a:t>
            </a:r>
          </a:p>
        </p:txBody>
      </p:sp>
      <p:sp>
        <p:nvSpPr>
          <p:cNvPr id="42" name="Oval 41"/>
          <p:cNvSpPr/>
          <p:nvPr/>
        </p:nvSpPr>
        <p:spPr>
          <a:xfrm>
            <a:off x="6601968" y="3803903"/>
            <a:ext cx="201168" cy="20116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3785615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Server patching, uptime &amp; physical security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40680"/>
            <a:ext cx="11384280" cy="868680"/>
          </a:xfrm>
          <a:prstGeom prst="roundRect">
            <a:avLst/>
          </a:prstGeom>
          <a:solidFill>
            <a:srgbClr val="F3EADC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080" y="5541264"/>
            <a:ext cx="2011680" cy="274320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7A5400"/>
                </a:solidFill>
              </a:rP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5541264"/>
            <a:ext cx="8869680" cy="7132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7A5400"/>
                </a:solidFill>
                <a:latin typeface="Calibri"/>
              </a:rPr>
              <a:t>Shared responsibility: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1252B"/>
                </a:solidFill>
                <a:latin typeface="Calibri"/>
              </a:rPr>
              <a:t>data protection (we configure backup rules &amp; RPO/RTO targets; the provider durably stores and replicates the data), identity verification (we enforce roles in rules; the provider runs Auth), and security (we write the rules; the provider secures the platform).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3 — CLOUD SYSTEM ARCHITECTURE (20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PaaS architecture: users, hosted application, data components, HTTPS,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286000" cy="26517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243584"/>
            <a:ext cx="2011680" cy="27432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</a:rPr>
              <a:t>USERS &amp; CLIENT DEVICES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6858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719072"/>
            <a:ext cx="685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E3A2F"/>
                </a:solidFill>
                <a:latin typeface="Calibri"/>
              </a:rPr>
              <a:t>Guest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website
(browser)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664208"/>
            <a:ext cx="6858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719072"/>
            <a:ext cx="685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E3A2F"/>
                </a:solidFill>
                <a:latin typeface="Calibri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574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mobile app
(Android)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42032"/>
            <a:ext cx="205740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1252B"/>
                </a:solidFill>
                <a:latin typeface="Calibri"/>
              </a:rPr>
              <a:t>Guest books &amp; pays on the website;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1252B"/>
                </a:solidFill>
                <a:latin typeface="Calibri"/>
              </a:rPr>
              <a:t>Admin runs all operations from the mobile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1097280"/>
            <a:ext cx="6263640" cy="4709160"/>
          </a:xfrm>
          <a:prstGeom prst="roundRect">
            <a:avLst/>
          </a:prstGeom>
          <a:solidFill>
            <a:srgbClr val="E3ECEE"/>
          </a:solidFill>
          <a:ln w="254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225295"/>
            <a:ext cx="2834640" cy="310896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CLOUD PLATFORM (PAAS) — asia-southeast1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1664207"/>
            <a:ext cx="5897879" cy="18288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1828800"/>
            <a:ext cx="5806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901952"/>
            <a:ext cx="365760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E3A2F"/>
                </a:solidFill>
                <a:latin typeface="Calibri"/>
              </a:rPr>
              <a:t>Provider-managed platform (PaaS)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2121408"/>
            <a:ext cx="55778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Managed Firestore (bookings, profiles, site_config/rates, access_logs)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2363724"/>
            <a:ext cx="55778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Firebase Auth (sign-in, ID tokens)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2606040"/>
            <a:ext cx="55778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Cloud Functions: bookingAvailability, submitBooking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848356"/>
            <a:ext cx="55778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Firebase Hosting / Vercel (website) + Cloud Run / App Engine (Admin app logic)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090672"/>
            <a:ext cx="55778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Realtime Database (ephemeral live-location stream)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3332988"/>
            <a:ext cx="55778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Supabase Storage bucket (payment-proof files)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251960"/>
            <a:ext cx="5806440" cy="1481328"/>
          </a:xfrm>
          <a:prstGeom prst="roundRect">
            <a:avLst/>
          </a:prstGeom>
          <a:solidFill>
            <a:srgbClr val="ECF0EA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4325112"/>
            <a:ext cx="365760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E3A2F"/>
                </a:solidFill>
                <a:latin typeface="Calibri"/>
              </a:rPr>
              <a:t>Our team manages (application layer)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4590288"/>
            <a:ext cx="557784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Application code &amp; deployment (website + Admin app)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814316"/>
            <a:ext cx="557784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Firestore Security Rules &amp; roles (guest/admin)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5038344"/>
            <a:ext cx="557784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Security PIN gate &amp; payment-proof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5262372"/>
            <a:ext cx="557784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ESP32 lock-gateway integration (writes access_logs)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5486400"/>
            <a:ext cx="557784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 i="0">
                <a:solidFill>
                  <a:srgbClr val="21252B"/>
                </a:solidFill>
                <a:latin typeface="Calibri"/>
              </a:rPr>
              <a:t>• Backup configuration &amp; RPO/RTO targets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1874519"/>
            <a:ext cx="237744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55480" y="1984248"/>
            <a:ext cx="1463040" cy="27432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ESP32 smart 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377439"/>
            <a:ext cx="210312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 i="0">
                <a:solidFill>
                  <a:srgbClr val="21252B"/>
                </a:solidFill>
                <a:latin typeface="Calibri"/>
              </a:rPr>
              <a:t>RFID / Mobile Key verification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1252B"/>
                </a:solidFill>
                <a:latin typeface="Calibri"/>
              </a:rPr>
              <a:t>writes access_logs to Firestore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 i="1">
                <a:solidFill>
                  <a:srgbClr val="6B7280"/>
                </a:solidFill>
                <a:latin typeface="Calibri"/>
              </a:rPr>
              <a:t>(integration we operate)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07592" y="2011680"/>
            <a:ext cx="1709928" cy="91440"/>
          </a:xfrm>
          <a:prstGeom prst="line">
            <a:avLst/>
          </a:prstGeom>
          <a:ln w="25400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874519" y="1920240"/>
            <a:ext cx="10972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HTTPS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01952" y="2331720"/>
            <a:ext cx="1115568" cy="685800"/>
          </a:xfrm>
          <a:prstGeom prst="line">
            <a:avLst/>
          </a:prstGeom>
          <a:ln w="25400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94560" y="2724912"/>
            <a:ext cx="82296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HTTPS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235440" y="2560320"/>
            <a:ext cx="201168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62288" y="2331720"/>
            <a:ext cx="8686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access_logs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843016"/>
            <a:ext cx="580644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Access boundary: guests reach only their own bookings; the Admin app reads all records via role-based rules.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5989320"/>
            <a:ext cx="11384280" cy="603504"/>
          </a:xfrm>
          <a:prstGeom prst="roundRect">
            <a:avLst/>
          </a:prstGeom>
          <a:solidFill>
            <a:srgbClr val="ECF0EA"/>
          </a:solidFill>
          <a:ln w="12700">
            <a:solidFill>
              <a:srgbClr val="3A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6928" y="6044184"/>
            <a:ext cx="1737360" cy="274320"/>
          </a:xfrm>
          <a:prstGeom prst="roundRect">
            <a:avLst/>
          </a:prstGeom>
          <a:solidFill>
            <a:srgbClr val="3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1">
                <a:solidFill>
                  <a:srgbClr val="FFFFFF"/>
                </a:solidFill>
              </a:rPr>
              <a:t>BACKUP &amp; MONITORING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728" y="6044184"/>
            <a:ext cx="9326880" cy="47548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0" i="0">
                <a:solidFill>
                  <a:srgbClr val="21252B"/>
                </a:solidFill>
                <a:latin typeface="Calibri"/>
              </a:rPr>
              <a:t>Managed Firestore backups (provider) + team-configured backup schedule &amp; restore tests;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0" i="0">
                <a:solidFill>
                  <a:srgbClr val="21252B"/>
                </a:solidFill>
                <a:latin typeface="Calibri"/>
              </a:rPr>
              <a:t>monitoring &amp; alerting on function errors (team/provider shared).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3 (CONT.) — TRANSACTION TRACE &amp; DESIGN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Tracing one major transaction: a Guest submits a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84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3A2F"/>
                </a:solidFill>
                <a:latin typeface="Calibri"/>
              </a:rPr>
              <a:t>Transaction: Guest selects dates, uploads a downpayment screenshot, and submits a Pending 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81328"/>
            <a:ext cx="1874519" cy="38404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 Browse &amp; quote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1499616"/>
            <a:ext cx="932688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0" i="0">
                <a:solidFill>
                  <a:srgbClr val="21252B"/>
                </a:solidFill>
                <a:latin typeface="Calibri"/>
              </a:rPr>
              <a:t>Guest opens the website (HTTPS). The calendar projection comes from bookingAvailability (a Cloud Function reading private Bookings + Published rates) — no other Guest's data is exposed.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22576"/>
            <a:ext cx="1874519" cy="38404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 Sign in &amp; pay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340864"/>
            <a:ext cx="932688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0" i="0">
                <a:solidFill>
                  <a:srgbClr val="21252B"/>
                </a:solidFill>
                <a:latin typeface="Calibri"/>
              </a:rPr>
              <a:t>Guest signs in (Firebase Auth, anonymous or linked account), chooses a payment plan, and transfers the downpayment manually to the published GCash/bank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63824"/>
            <a:ext cx="1874519" cy="38404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 Upload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182112"/>
            <a:ext cx="932688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0" i="0">
                <a:solidFill>
                  <a:srgbClr val="21252B"/>
                </a:solidFill>
                <a:latin typeface="Calibri"/>
              </a:rPr>
              <a:t>Guest uploads the screenshot to Supabase Storage (payments/{uid}/{ref}/proof.png); client-side OCR pre-fills the reference number (OCR is a hint, not verification).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005072"/>
            <a:ext cx="1874519" cy="38404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 Submit (server boundary)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4023359"/>
            <a:ext cx="932688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0" i="0">
                <a:solidFill>
                  <a:srgbClr val="21252B"/>
                </a:solidFill>
                <a:latin typeface="Calibri"/>
              </a:rPr>
              <a:t>submitBooking callable binds the Booking to the caller's UID, validates dates, the 30-day Manila lead time, the quote and the payment snapshot, then writes the Pending Booking and first Activity event in one Firestore transaction (serialized with booking_inventory_locks).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46320"/>
            <a:ext cx="1874519" cy="38404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 Admin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864607"/>
            <a:ext cx="932688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0" i="0">
                <a:solidFill>
                  <a:srgbClr val="21252B"/>
                </a:solidFill>
                <a:latin typeface="Calibri"/>
              </a:rPr>
              <a:t>Admin app re-checks date overlap and approves/rejects the screenshot under the Security PIN gate; approval sets Approved and firmly holds the 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650992"/>
            <a:ext cx="11384280" cy="84124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724144"/>
            <a:ext cx="11064240" cy="7132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 i="0">
                <a:solidFill>
                  <a:srgbClr val="1E3A2F"/>
                </a:solidFill>
                <a:latin typeface="Calibri"/>
              </a:rPr>
              <a:t>Design fit: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 i="0">
                <a:solidFill>
                  <a:srgbClr val="21252B"/>
                </a:solidFill>
                <a:latin typeface="Calibri"/>
              </a:rPr>
              <a:t>PaaS supports this scale and scope — low-volume, sporadic estate traffic; server-side transaction boundary (submitBooking) prevents double-booking the last unit; the two-role split and Security PIN gate run as application code we control; the ESP32 lock remains a separate integration we operate. Assumption: Cloud Functions are deployed on the Blaze plan in asia-southeast1.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4 — PHYSICAL DFD (20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Physical DFD: Process 1.0 “Submit Booking through Cloud Application”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13842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Selected major process: a Guest submits a Booking (website → PaaS backend → Firestore). Deployment annotations show where processing and storage occur.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331720" cy="1965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2011680" cy="27432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EXTERNAL ENTITIES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84708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566928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E3A2F"/>
                </a:solidFill>
                <a:latin typeface="Calibri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658368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1252B"/>
                </a:solidFill>
                <a:latin typeface="Calibri"/>
              </a:rPr>
              <a:t>Guest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70048"/>
            <a:ext cx="658368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(website, browser)</a:t>
            </a:r>
          </a:p>
        </p:txBody>
      </p:sp>
      <p:sp>
        <p:nvSpPr>
          <p:cNvPr id="13" name="Oval 12"/>
          <p:cNvSpPr/>
          <p:nvPr/>
        </p:nvSpPr>
        <p:spPr>
          <a:xfrm>
            <a:off x="1463040" y="184708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566928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E3A2F"/>
                </a:solidFill>
                <a:latin typeface="Calibr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32304"/>
            <a:ext cx="658368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1252B"/>
                </a:solidFill>
                <a:latin typeface="Calibri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88336"/>
            <a:ext cx="658368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(mobile app)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1417320"/>
            <a:ext cx="2514600" cy="1481328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554480"/>
            <a:ext cx="2240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1.0 Submit Booking 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810512"/>
            <a:ext cx="2240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Cloud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084831"/>
            <a:ext cx="224028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8E0D8"/>
                </a:solidFill>
                <a:latin typeface="Calibri"/>
              </a:rPr>
              <a:t>Deployed on 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D4AF37"/>
                </a:solidFill>
                <a:latin typeface="Calibri"/>
              </a:rPr>
              <a:t>PaaS (Cloud Function)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8E0D8"/>
                </a:solidFill>
                <a:latin typeface="Calibri"/>
              </a:rPr>
              <a:t>, asia-southeast1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371600"/>
            <a:ext cx="2377440" cy="749808"/>
          </a:xfrm>
          <a:prstGeom prst="roundRect">
            <a:avLst/>
          </a:prstGeom>
          <a:solidFill>
            <a:srgbClr val="E3ECEE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1417320"/>
            <a:ext cx="2212848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19" b="1" i="0">
                <a:solidFill>
                  <a:srgbClr val="1E3A2F"/>
                </a:solidFill>
                <a:latin typeface="Calibri"/>
              </a:rPr>
              <a:t>DS1  bookings (Firestore)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1618488"/>
            <a:ext cx="2212848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40" b="0" i="0">
                <a:solidFill>
                  <a:srgbClr val="21252B"/>
                </a:solidFill>
                <a:latin typeface="Calibri"/>
              </a:rPr>
              <a:t>Pending Booking + Activity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1837943"/>
            <a:ext cx="2212848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provider-managed
repository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249424"/>
            <a:ext cx="2377440" cy="749808"/>
          </a:xfrm>
          <a:prstGeom prst="roundRect">
            <a:avLst/>
          </a:prstGeom>
          <a:solidFill>
            <a:srgbClr val="E3ECEE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2295144"/>
            <a:ext cx="2212848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19" b="1" i="0">
                <a:solidFill>
                  <a:srgbClr val="1E3A2F"/>
                </a:solidFill>
                <a:latin typeface="Calibri"/>
              </a:rPr>
              <a:t>DS2  site_config/rates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2496312"/>
            <a:ext cx="2212848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40" b="0" i="0">
                <a:solidFill>
                  <a:srgbClr val="21252B"/>
                </a:solidFill>
                <a:latin typeface="Calibri"/>
              </a:rPr>
              <a:t>Published rates + lead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2715768"/>
            <a:ext cx="2212848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provider-managed
repository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127248"/>
            <a:ext cx="2377440" cy="749808"/>
          </a:xfrm>
          <a:prstGeom prst="roundRect">
            <a:avLst/>
          </a:prstGeom>
          <a:solidFill>
            <a:srgbClr val="E3ECEE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59" y="3172968"/>
            <a:ext cx="2212848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19" b="1" i="0">
                <a:solidFill>
                  <a:srgbClr val="1E3A2F"/>
                </a:solidFill>
                <a:latin typeface="Calibri"/>
              </a:rPr>
              <a:t>DS3  payment-proofs (Supabase Storage)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3374136"/>
            <a:ext cx="2212848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40" b="0" i="0">
                <a:solidFill>
                  <a:srgbClr val="21252B"/>
                </a:solidFill>
                <a:latin typeface="Calibri"/>
              </a:rPr>
              <a:t>screenshot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3593591"/>
            <a:ext cx="2212848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provider-managed
repository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43200" y="2011680"/>
            <a:ext cx="347472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87168" y="1792224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9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stay
dates,
downpayment
proof ref,
claimed amount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05272" y="2011680"/>
            <a:ext cx="356616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32704" y="1773936"/>
            <a:ext cx="329184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write
Pending Booking
+ activity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05272" y="2487168"/>
            <a:ext cx="356616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32704" y="2505456"/>
            <a:ext cx="329184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read
published rates
+ lead time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96128" y="2743200"/>
            <a:ext cx="493776" cy="27432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44768" y="2798064"/>
            <a:ext cx="17373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store payment-proof path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2743200" y="3017520"/>
            <a:ext cx="347472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487168" y="2798064"/>
            <a:ext cx="27432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90000"/>
              </a:lnSpc>
              <a:spcAft>
                <a:spcPts val="400"/>
              </a:spcAft>
            </a:pPr>
            <a:r>
              <a:rPr sz="680" b="0" i="0">
                <a:solidFill>
                  <a:srgbClr val="6B7280"/>
                </a:solidFill>
                <a:latin typeface="Calibri"/>
              </a:rPr>
              <a:t>booking
reference
+ Pending
status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3767328"/>
            <a:ext cx="11384280" cy="566928"/>
          </a:xfrm>
          <a:prstGeom prst="roundRect">
            <a:avLst/>
          </a:prstGeom>
          <a:solidFill>
            <a:srgbClr val="EEF3EE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3822191"/>
            <a:ext cx="11064240" cy="47548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E3A2F"/>
                </a:solidFill>
                <a:latin typeface="Calibri"/>
              </a:rPr>
              <a:t>Deployment annotations: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21252B"/>
                </a:solidFill>
                <a:latin typeface="Calibri"/>
              </a:rPr>
              <a:t>Processing occurs in the PaaS Cloud Function (asia-southeast1); storage occurs in provider-managed Firestore and Supabase Storage. The Admin app (process 2.0) reviews and approves.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462272"/>
            <a:ext cx="11384280" cy="1883664"/>
          </a:xfrm>
          <a:prstGeom prst="roundRect">
            <a:avLst/>
          </a:prstGeom>
          <a:solidFill>
            <a:srgbClr val="FBF3DC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5A00"/>
                </a:solidFill>
              </a:rPr>
              <a:t>How the PaaS model affects this process (essay focus)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>
                <a:solidFill>
                  <a:srgbClr val="21252B"/>
                </a:solidFill>
              </a:rPr>
              <a:t>•  Team configures/controls: the submitBooking function code, validation (dates, 30-day Manila lead time, quote, payment snapshot), Firestore Security Rules, and the booking_inventory_lock that serializes competing submissions.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>
                <a:solidFill>
                  <a:srgbClr val="21252B"/>
                </a:solidFill>
              </a:rPr>
              <a:t>•  Provider manages: server, OS, runtime, scaling, Firestore engine/replication, Supabase Storage; internal provider details are not exposed or invented.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>
                <a:solidFill>
                  <a:srgbClr val="21252B"/>
                </a:solidFill>
              </a:rPr>
              <a:t>•  Logical DFD preserved: external inputs (stay dates, proof, claimed amount) and outputs (booking reference, Pending status) match the logical model; entity-to-store transfers route through process 1.0 (no direct entity-to-store flow).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>
                <a:solidFill>
                  <a:srgbClr val="21252B"/>
                </a:solidFill>
              </a:rPr>
              <a:t>•  Assumption: Cloud Functions deployed on Blaze in asia-southeast1 and site_config/booking.callable_booking_required set so direct client writes are closed.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5 — DEFEND THE DESIGN DURING A CLOUD DISRUPTION (20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Recovery flowchart: detection → impact → response → recovery → validation → resumption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138428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Scenario: the PaaS backend (Firestore / Cloud Functions) becomes unavailable during an important transaction (a Guest booking submission or an Admin payment verification). Selected model: PaaS.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178308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1600200" cy="29260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1.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160020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760" b="0" i="0">
                <a:solidFill>
                  <a:srgbClr val="21252B"/>
                </a:solidFill>
                <a:latin typeface="Calibri"/>
              </a:rPr>
              <a:t>Monitoring/alerting on function errors &amp;
booking-submission failures (team-configured)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304288"/>
            <a:ext cx="137160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31720" y="1572768"/>
            <a:ext cx="178308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1664208"/>
            <a:ext cx="1600200" cy="292608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2. IMPACT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29968"/>
            <a:ext cx="160020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760" b="0" i="0">
                <a:solidFill>
                  <a:srgbClr val="21252B"/>
                </a:solidFill>
                <a:latin typeface="Calibri"/>
              </a:rPr>
              <a:t>Identify affected users &amp; functions:
Guests booking/paying; Admin verifying payments &amp;
approving bookings. Pending holds at risk.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304288"/>
            <a:ext cx="137160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60" y="1572768"/>
            <a:ext cx="178308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664208"/>
            <a:ext cx="1600200" cy="29260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3. TEAM / PROVIDER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029968"/>
            <a:ext cx="160020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760" b="0" i="0">
                <a:solidFill>
                  <a:srgbClr val="21252B"/>
                </a:solidFill>
                <a:latin typeface="Calibri"/>
              </a:rPr>
              <a:t>Team: verify own code &amp; config, switch to
fallback communication, log the incident.
Provider (PaaS): restore platform per SLA; we verify.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2304288"/>
            <a:ext cx="137160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200" y="1572768"/>
            <a:ext cx="178308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664208"/>
            <a:ext cx="1600200" cy="292608"/>
          </a:xfrm>
          <a:prstGeom prst="round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4.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29968"/>
            <a:ext cx="160020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760" b="0" i="0">
                <a:solidFill>
                  <a:srgbClr val="21252B"/>
                </a:solidFill>
                <a:latin typeface="Calibri"/>
              </a:rPr>
              <a:t>Restore from managed Firestore backup to the
RPO target; replay incomplete transactions; re-issue
holds where dates were released.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55280" y="2304288"/>
            <a:ext cx="137160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92440" y="1572768"/>
            <a:ext cx="178308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3879" y="1664208"/>
            <a:ext cx="1600200" cy="292608"/>
          </a:xfrm>
          <a:prstGeom prst="roundRect">
            <a:avLst/>
          </a:prstGeom>
          <a:solidFill>
            <a:srgbClr val="3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5.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029968"/>
            <a:ext cx="160020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760" b="0" i="0">
                <a:solidFill>
                  <a:srgbClr val="21252B"/>
                </a:solidFill>
                <a:latin typeface="Calibri"/>
              </a:rPr>
              <a:t>Confirm booking statuses, payment proofs &amp;
access logs reconcile; run the booking-lifecycle
transition checks before resuming.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75519" y="2304288"/>
            <a:ext cx="137161" cy="0"/>
          </a:xfrm>
          <a:prstGeom prst="line">
            <a:avLst/>
          </a:prstGeom>
          <a:ln w="22225">
            <a:solidFill>
              <a:srgbClr val="1E3A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12680" y="1572768"/>
            <a:ext cx="178308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04119" y="1664208"/>
            <a:ext cx="1600200" cy="292608"/>
          </a:xfrm>
          <a:prstGeom prst="roundRect">
            <a:avLst/>
          </a:prstGeom>
          <a:solidFill>
            <a:srgbClr val="3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6. SERVICE RESUMPTION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2029968"/>
            <a:ext cx="160020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760" b="0" i="0">
                <a:solidFill>
                  <a:srgbClr val="21252B"/>
                </a:solidFill>
                <a:latin typeface="Calibri"/>
              </a:rPr>
              <a:t>Reopen submitBooking / Admin functions;
notify affected Guests &amp; Admin; update Activity log.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310128"/>
            <a:ext cx="5577840" cy="3063240"/>
          </a:xfrm>
          <a:prstGeom prst="roundRect">
            <a:avLst/>
          </a:prstGeom>
          <a:solidFill>
            <a:srgbClr val="ECF0EA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3401568"/>
            <a:ext cx="2377440" cy="27432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OUR TEAM (PaaS)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749039"/>
            <a:ext cx="525780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Detect via our monitoring </a:t>
            </a:r>
            <a:r>
              <a:rPr sz="900">
                <a:solidFill>
                  <a:srgbClr val="21252B"/>
                </a:solidFill>
              </a:rPr>
              <a:t>&amp; alerting.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Assess impact </a:t>
            </a:r>
            <a:r>
              <a:rPr sz="900">
                <a:solidFill>
                  <a:srgbClr val="21252B"/>
                </a:solidFill>
              </a:rPr>
              <a:t>on bookings, payments &amp; approvals.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Restore &amp; validate </a:t>
            </a:r>
            <a:r>
              <a:rPr sz="900">
                <a:solidFill>
                  <a:srgbClr val="21252B"/>
                </a:solidFill>
              </a:rPr>
              <a:t>from backups; replay incomplete transactions.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Verify provider SLA </a:t>
            </a:r>
            <a:r>
              <a:rPr sz="900">
                <a:solidFill>
                  <a:srgbClr val="21252B"/>
                </a:solidFill>
              </a:rPr>
              <a:t>is met before claiming recovery.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Communicate </a:t>
            </a:r>
            <a:r>
              <a:rPr sz="900">
                <a:solidFill>
                  <a:srgbClr val="21252B"/>
                </a:solidFill>
              </a:rPr>
              <a:t>with affected Guests and the Admin.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310128"/>
            <a:ext cx="5623560" cy="3063240"/>
          </a:xfrm>
          <a:prstGeom prst="roundRect">
            <a:avLst/>
          </a:prstGeom>
          <a:solidFill>
            <a:srgbClr val="E3ECEE"/>
          </a:solidFill>
          <a:ln w="12700">
            <a:solidFill>
              <a:srgbClr val="1E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19088" y="3401568"/>
            <a:ext cx="2377440" cy="27432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PROVIDER (PaaS)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749039"/>
            <a:ext cx="5138928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Restore the platform </a:t>
            </a:r>
            <a:r>
              <a:rPr sz="900">
                <a:solidFill>
                  <a:srgbClr val="21252B"/>
                </a:solidFill>
              </a:rPr>
              <a:t>&amp; managed database per SLA.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Durable storage &amp; </a:t>
            </a:r>
            <a:r>
              <a:rPr sz="900">
                <a:solidFill>
                  <a:srgbClr val="21252B"/>
                </a:solidFill>
              </a:rPr>
              <a:t>replication of Firestore data.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Physical infrastructure, </a:t>
            </a:r>
            <a:r>
              <a:rPr sz="900">
                <a:solidFill>
                  <a:srgbClr val="21252B"/>
                </a:solidFill>
              </a:rPr>
              <a:t>OS, runtime &amp; patching.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D4AF37"/>
                </a:solidFill>
              </a:rPr>
              <a:t>▪  </a:t>
            </a:r>
            <a:r>
              <a:rPr sz="900" b="1">
                <a:solidFill>
                  <a:srgbClr val="1E3A2F"/>
                </a:solidFill>
              </a:rPr>
              <a:t>Backups </a:t>
            </a:r>
            <a:r>
              <a:rPr sz="900">
                <a:solidFill>
                  <a:srgbClr val="21252B"/>
                </a:solidFill>
              </a:rPr>
              <a:t>(we configure schedule &amp; test restore).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382512"/>
            <a:ext cx="11384280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AF37"/>
                </a:solidFill>
                <a:latin typeface="Calibri"/>
              </a:rPr>
              <a:t>QUESTION 5 (CONT.) — RPO, RTO AND PROVIDER CAPABILITIES TO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3A2F"/>
                </a:solidFill>
                <a:latin typeface="Calibri"/>
              </a:rPr>
              <a:t>Recovery targets and what must be confirmed with the cloud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Q5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13842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A target is not a guarantee — provider capabilities and agreements must be verified before launch.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53312"/>
          <a:ext cx="11384280" cy="2706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3520440"/>
                <a:gridCol w="3520440"/>
                <a:gridCol w="2926080"/>
              </a:tblGrid>
              <a:tr h="67665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Our position (Hacienda de LuisAna)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Provider dependence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must be verified</a:t>
                      </a:r>
                    </a:p>
                  </a:txBody>
                  <a:tcPr anchor="ctr" marL="73152" marR="73152" marT="36576" marB="36576">
                    <a:solidFill>
                      <a:srgbClr val="1E3A2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1E3A2F"/>
                          </a:solidFill>
                          <a:latin typeface="Calibri"/>
                        </a:rPr>
                        <a:t>RPO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As little data loss as practicable — target near-zero for completed bookings and verified payments; acceptable loss limited to in-flight submissions not yet written to Firestore.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Managed Firestore backup frequency and point-in-time restore (provider capability).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Confirm backup schedule, PITR availability and restore procedure with the provider before launch.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1E3A2F"/>
                          </a:solidFill>
                          <a:latin typeface="Calibri"/>
                        </a:rPr>
                        <a:t>RTO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Restore booking &amp; payment services within a few hours of a declared outage (target to be agreed with the provider SLA); manual fallback communication (email/phone) used meanwhile.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Provider restoration time and SLA commitment for Firestore / Cloud Functions in asia-southeast1.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Obtain a written SLA with RTO commitment and test a restore drill before go-live.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>
                          <a:solidFill>
                            <a:srgbClr val="1E3A2F"/>
                          </a:solidFill>
                          <a:latin typeface="Calibri"/>
                        </a:rPr>
                        <a:t>Backup / recovery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Team configures backup schedule and tests restores; incomplete transactions are re-checked against payment proofs and the Activity log after recovery.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Durable storage, replication and the backup/restore service itself.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880" b="0">
                          <a:solidFill>
                            <a:srgbClr val="21252B"/>
                          </a:solidFill>
                          <a:latin typeface="Calibri"/>
                        </a:rPr>
                        <a:t>Verify backup covers bookings, profiles, payment-proof paths and access_logs; confirm proof files are recoverable from Supabase Storage.</a:t>
                      </a:r>
                    </a:p>
                  </a:txBody>
                  <a:tcPr anchor="ctr" marL="73152" marR="73152" marT="36576" marB="36576"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4315968"/>
            <a:ext cx="11384280" cy="93268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9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4389120"/>
            <a:ext cx="2011680" cy="274320"/>
          </a:xfrm>
          <a:prstGeom prst="round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AFFECTED USERS &amp;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389120"/>
            <a:ext cx="9052560" cy="8046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1" i="0">
                <a:solidFill>
                  <a:srgbClr val="1E3A2F"/>
                </a:solidFill>
                <a:latin typeface="Calibri"/>
              </a:rPr>
              <a:t>Users: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 i="0">
                <a:solidFill>
                  <a:srgbClr val="21252B"/>
                </a:solidFill>
                <a:latin typeface="Calibri"/>
              </a:rPr>
              <a:t>Guests submitting or paying for bookings; the Admin verifying payments and approving bookings.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1" i="0">
                <a:solidFill>
                  <a:srgbClr val="1E3A2F"/>
                </a:solidFill>
                <a:latin typeface="Calibri"/>
              </a:rPr>
              <a:t>Functions affected: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 i="0">
                <a:solidFill>
                  <a:srgbClr val="21252B"/>
                </a:solidFill>
                <a:latin typeface="Calibri"/>
              </a:rPr>
              <a:t>booking submission (submitBooking), payment-proof verification, booking approval, and the ESP32 access-log path. Browsing published rates remains read-only where cached.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358384"/>
            <a:ext cx="11384280" cy="1078992"/>
          </a:xfrm>
          <a:prstGeom prst="roundRect">
            <a:avLst/>
          </a:prstGeom>
          <a:solidFill>
            <a:srgbClr val="FBF3DC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5A00"/>
                </a:solidFill>
              </a:rPr>
              <a:t>Control available under PaaS (model-specific note)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30">
                <a:solidFill>
                  <a:srgbClr val="21252B"/>
                </a:solidFill>
              </a:rPr>
              <a:t>•  We control our monitoring, backup schedule, restore tests, incident communication and the application code; we cannot reach the provider's servers or OS.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30">
                <a:solidFill>
                  <a:srgbClr val="21252B"/>
                </a:solidFill>
              </a:rPr>
              <a:t>•  Provider is responsible for platform restoration per its SLA; we must verify the SLA, backup frequency, PITR and restore procedure — these are agreements to confirm, not guarantees we assume.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30">
                <a:solidFill>
                  <a:srgbClr val="21252B"/>
                </a:solidFill>
              </a:rPr>
              <a:t>•  Records are protected by provider-managed durable storage and replication; incomplete transactions are checked against payment proofs and the append-only Activity log after recovery.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4828"/>
            <a:ext cx="868680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Hacienda de LuisAna  •  Topic XIII — Cloud Service Model Quiz  •  Cloud services used as hosting/implementation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624828"/>
            <a:ext cx="50292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D8E0D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